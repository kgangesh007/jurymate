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3C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88952" cy="73152"/>
          </a:xfrm>
          <a:prstGeom prst="rect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CropGuard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EAEC"/>
                </a:solidFill>
              </a:rPr>
              <a:t>Real-Time Crop Disease Detection Using Computer Vision &amp; Edge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212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B429"/>
                </a:solidFill>
              </a:rPr>
              <a:t>Team Agritech Pioneers  |  Hackathon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AEC"/>
                </a:solidFill>
              </a:rPr>
              <a:t>Members: Ravi Kumar · Sneha Patil · Arjun Mehta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80160"/>
            <a:ext cx="3566160" cy="182880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0B429"/>
                </a:solidFill>
              </a:rPr>
              <a:t>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of crop yield lost to diseases annually in India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280160"/>
            <a:ext cx="3566160" cy="182880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417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0B429"/>
                </a:solidFill>
              </a:rPr>
              <a:t>72hr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194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average delay before disease is diagnosed by experts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280160"/>
            <a:ext cx="3566160" cy="182880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417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0B429"/>
                </a:solidFill>
              </a:rPr>
              <a:t>$220B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194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global economic loss due to plant diseases per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3C40"/>
                </a:solidFill>
              </a:rPr>
              <a:t>Current Situation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49039"/>
            <a:ext cx="5303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063C40"/>
                </a:solidFill>
              </a:rPr>
              <a:t>▸  Farmers rely on manual inspection — slow and error-prone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63C40"/>
                </a:solidFill>
              </a:rPr>
              <a:t>▸  Expert agronomists are scarce in rural India (1 per 800 farmers)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63C40"/>
                </a:solidFill>
              </a:rPr>
              <a:t>▸  Mobile connectivity is poor — cloud-only solutions fail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63C40"/>
                </a:solidFill>
              </a:rPr>
              <a:t>▸  Existing apps require internet and miss early-stage infections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3C40"/>
                </a:solidFill>
              </a:rPr>
              <a:t>Our Target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749039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063C40"/>
                </a:solidFill>
              </a:rPr>
              <a:t>▸  Small &amp; marginal farmers (&lt; 2 hectares) in rural India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63C40"/>
                </a:solidFill>
              </a:rPr>
              <a:t>▸  Agricultural extension officers doing field surveys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63C40"/>
                </a:solidFill>
              </a:rPr>
              <a:t>▸  Agri-input retailers advising farmers on treatment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3C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32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Our Solution: CropGuard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EAEC"/>
                </a:solidFill>
              </a:rPr>
              <a:t>Offline-first edge AI app that detects 38 crop diseases in real-time using a smartphone camera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3657600" cy="182880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299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B429"/>
                </a:solidFill>
              </a:rPr>
              <a:t>Instant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060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AEC"/>
                </a:solidFill>
              </a:rPr>
              <a:t>Point &amp; shoot — results in &lt; 2 seconds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920240"/>
            <a:ext cx="3657600" cy="182880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0299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057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B429"/>
                </a:solidFill>
              </a:rPr>
              <a:t>Offline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060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AEC"/>
                </a:solidFill>
              </a:rPr>
              <a:t>TFLite model runs entirely on-device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920240"/>
            <a:ext cx="3657600" cy="182880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299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0574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B429"/>
                </a:solidFill>
              </a:rPr>
              <a:t>Treatment Plan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60604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AEC"/>
                </a:solidFill>
              </a:rPr>
              <a:t>AI prescribes organic &amp; chemical remedies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23360"/>
            <a:ext cx="3657600" cy="182880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13308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🗣️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160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B429"/>
                </a:solidFill>
              </a:rPr>
              <a:t>Voice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09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AEC"/>
                </a:solidFill>
              </a:rPr>
              <a:t>Audio guidance in 8 regional languages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4023360"/>
            <a:ext cx="3657600" cy="182880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413308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160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B429"/>
                </a:solidFill>
              </a:rPr>
              <a:t>Farm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709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AEC"/>
                </a:solidFill>
              </a:rPr>
              <a:t>Track disease history across your plots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023360"/>
            <a:ext cx="3657600" cy="182880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13308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☁️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41605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B429"/>
                </a:solidFill>
              </a:rPr>
              <a:t>Smart Sync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70916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AEC"/>
                </a:solidFill>
              </a:rPr>
              <a:t>Uploads data when connectivity resumes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Technical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2103120" cy="128016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📸 Image
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39" y="160020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429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615184" y="1188720"/>
            <a:ext cx="2103120" cy="128016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06624" y="12801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🔬 Preprocessing
CLAHE + Augment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8304" y="160020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429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6048" y="1188720"/>
            <a:ext cx="2103120" cy="128016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7488" y="12801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🧠 EfficientNet-B3
TFLite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160020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429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6912" y="1188720"/>
            <a:ext cx="2103120" cy="128016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88352" y="12801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🎯 Disease
Classification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00032" y="160020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0B429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37776" y="1188720"/>
            <a:ext cx="2103120" cy="128016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9216" y="128016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💡 Treatment
Recommendation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3C40"/>
                </a:solidFill>
              </a:rPr>
              <a:t>Model Details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546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063C40"/>
                </a:solidFill>
              </a:rPr>
              <a:t>▸  Base model: EfficientNet-B3 pretrained on ImageNet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63C40"/>
                </a:solidFill>
              </a:rPr>
              <a:t>▸  Fine-tuned on PlantVillage dataset (54,306 images)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63C40"/>
                </a:solidFill>
              </a:rPr>
              <a:t>▸  38 disease classes across 14 crop types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63C40"/>
                </a:solidFill>
              </a:rPr>
              <a:t>▸  Quantized INT8 → model size: 18MB (from 48MB)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63C40"/>
                </a:solidFill>
              </a:rPr>
              <a:t>▸  Inference time: 1.4s on mid-range Android device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3C40"/>
                </a:solidFill>
              </a:rPr>
              <a:t>Tech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1546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063C40"/>
                </a:solidFill>
              </a:rPr>
              <a:t>▸  ML: PyTorch → TensorFlow Lite (INT8 quantized)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63C40"/>
                </a:solidFill>
              </a:rPr>
              <a:t>▸  Mobile: React Native + TFLite React Native plugin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63C40"/>
                </a:solidFill>
              </a:rPr>
              <a:t>▸  Backend: FastAPI + PostgreSQL (for sync)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63C40"/>
                </a:solidFill>
              </a:rPr>
              <a:t>▸  Storage: SQLite (on-device) + AWS S3 (cloud)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63C40"/>
                </a:solidFill>
              </a:rPr>
              <a:t>▸  Languages: Python, JavaScript/TypeScript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63C40"/>
                </a:solidFill>
              </a:rPr>
              <a:t>▸  CI/CD: GitHub Actions + Expo EAS Build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3C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32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AI/ML Approach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B429"/>
                </a:solidFill>
              </a:rPr>
              <a:t>Training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CEAEC"/>
                </a:solidFill>
              </a:rPr>
              <a:t>▸  Dataset: PlantVillage + custom field images (6,200 photos)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EAEC"/>
                </a:solidFill>
              </a:rPr>
              <a:t>▸  Augmentation: random flip, rotation, color jitter, CutMix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EAEC"/>
                </a:solidFill>
              </a:rPr>
              <a:t>▸  Train/Val/Test split: 70/15/15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EAEC"/>
                </a:solidFill>
              </a:rPr>
              <a:t>▸  Optimizer: AdamW with cosine LR schedule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EAEC"/>
                </a:solidFill>
              </a:rPr>
              <a:t>▸  Loss: Focal loss (handles class imbalance)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CEAEC"/>
                </a:solidFill>
              </a:rPr>
              <a:t>▸  Epochs: 50  |  Batch size: 32  |  GPU: A100 (Colab)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188720"/>
            <a:ext cx="1737360" cy="164592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3716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B429"/>
                </a:solidFill>
              </a:rPr>
              <a:t>92.4%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194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AEC"/>
                </a:solidFill>
              </a:rPr>
              <a:t>Top-1 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188720"/>
            <a:ext cx="1737360" cy="164592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3716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B429"/>
                </a:solidFill>
              </a:rPr>
              <a:t>97.1%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AEC"/>
                </a:solidFill>
              </a:rPr>
              <a:t>Top-3 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41280" y="1188720"/>
            <a:ext cx="1737360" cy="164592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87000" y="137160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B429"/>
                </a:solidFill>
              </a:rPr>
              <a:t>91.8%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2194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AEC"/>
                </a:solidFill>
              </a:rPr>
              <a:t>F1 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108960"/>
            <a:ext cx="1737360" cy="164592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2918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B429"/>
                </a:solidFill>
              </a:rPr>
              <a:t>18 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AEC"/>
                </a:solidFill>
              </a:rPr>
              <a:t>Model Size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3108960"/>
            <a:ext cx="1737360" cy="164592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32918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0B429"/>
                </a:solidFill>
              </a:rPr>
              <a:t>1.4s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AEC"/>
                </a:solidFill>
              </a:rPr>
              <a:t>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0B429"/>
                </a:solidFill>
              </a:rPr>
              <a:t>Key Innovation: Hybrid Confidence 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834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AEC"/>
                </a:solidFill>
              </a:rPr>
              <a:t>We combine CNN confidence scores with agronomic rule-based validation. If CNN confidence &lt; 70%, the system requests a second image from a different angle before diagnosis.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Demo &amp; Field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63C40"/>
                </a:solidFill>
              </a:rPr>
              <a:t>Pilot: 3-month field trial across 120 farms in Pune &amp; Nashik districts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2651760" cy="1463040"/>
          </a:xfrm>
          <a:prstGeom prst="rect">
            <a:avLst/>
          </a:prstGeom>
          <a:solidFill>
            <a:srgbClr val="063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0B429"/>
                </a:solidFill>
              </a:rPr>
              <a:t>120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Farms Piloted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737360"/>
            <a:ext cx="2651760" cy="1463040"/>
          </a:xfrm>
          <a:prstGeom prst="rect">
            <a:avLst/>
          </a:prstGeom>
          <a:solidFill>
            <a:srgbClr val="063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8288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0B429"/>
                </a:solidFill>
              </a:rPr>
              <a:t>4,300+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560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Scans Done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737360"/>
            <a:ext cx="2651760" cy="1463040"/>
          </a:xfrm>
          <a:prstGeom prst="rect">
            <a:avLst/>
          </a:prstGeom>
          <a:solidFill>
            <a:srgbClr val="063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8288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0B429"/>
                </a:solidFill>
              </a:rPr>
              <a:t>89%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560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Farmer Satisfaction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737360"/>
            <a:ext cx="2651760" cy="1463040"/>
          </a:xfrm>
          <a:prstGeom prst="rect">
            <a:avLst/>
          </a:prstGeom>
          <a:solidFill>
            <a:srgbClr val="063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8288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0B429"/>
                </a:solidFill>
              </a:rPr>
              <a:t>31%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560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Yield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29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3C40"/>
                </a:solidFill>
              </a:rPr>
              <a:t>User 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2103120" cy="146304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1. Open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79" y="43434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B429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06624" y="3840480"/>
            <a:ext cx="2103120" cy="146304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98064" y="39319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2. Photograph
Leaf/Stem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9744" y="43434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B429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47488" y="3840480"/>
            <a:ext cx="2103120" cy="146304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39319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3. AI Detects
Disease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8" y="43434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B429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88352" y="3840480"/>
            <a:ext cx="2103120" cy="146304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9792" y="39319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4. View Treatment
Plan in Local
Language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1472" y="434340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0B429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29216" y="3840480"/>
            <a:ext cx="2103120" cy="146304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0656" y="393192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5. Schedule
Farm Visit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A5258"/>
                </a:solidFill>
              </a:rPr>
              <a:t>"I used to lose 30% of my tomato crop every season. CropGuard identified early blight 3 weeks before I could see it." — Ramesh Jadhav, Farmer, Nashik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3C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32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Future Roadmap &amp; Scalability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657600" cy="365760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B429"/>
                </a:solidFill>
              </a:rPr>
              <a:t>Phase 1
Q2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Launch on Play Store &amp; App Store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Expand to 15 crop types (from 14)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Add 4 more regional languages (total 12)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188720"/>
            <a:ext cx="3657600" cy="365760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258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B429"/>
                </a:solidFill>
              </a:rPr>
              <a:t>Phase 2
Q4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10312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Drone image support for field-level mapping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Federated learning — model improves on-device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Integration with state govt. KCC helpline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188720"/>
            <a:ext cx="3657600" cy="3657600"/>
          </a:xfrm>
          <a:prstGeom prst="rect">
            <a:avLst/>
          </a:prstGeom>
          <a:solidFill>
            <a:srgbClr val="0A52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3258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0B429"/>
                </a:solidFill>
              </a:rPr>
              <a:t>Phase 3
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10312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Predictive disease alerts using weather API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Marketplace for agri-inputs within app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▸  Export to SE Asia: Bangladesh, Sri Lanka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749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EAEC"/>
                </a:solidFill>
              </a:rPr>
              <a:t>Scalability: Serverless FastAPI on AWS Lambda · Auto-scaling RDS · CDN for model updates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B429"/>
                </a:solidFill>
              </a:rPr>
              <a:t>Impact Goal: 1 million farmers, ₹2,000 Cr saved in crop losses by 2027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63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Team &amp; Our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3566160" cy="2286000"/>
          </a:xfrm>
          <a:prstGeom prst="rect">
            <a:avLst/>
          </a:prstGeom>
          <a:solidFill>
            <a:srgbClr val="063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Ravi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B429"/>
                </a:solidFill>
              </a:rPr>
              <a:t>ML Engineer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AEC"/>
                </a:solidFill>
              </a:rPr>
              <a:t>PyTorch, TFLite, model training &amp; quantization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566160" cy="2286000"/>
          </a:xfrm>
          <a:prstGeom prst="rect">
            <a:avLst/>
          </a:prstGeom>
          <a:solidFill>
            <a:srgbClr val="063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Sneha Patil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B429"/>
                </a:solidFill>
              </a:rPr>
              <a:t>Mobile Dev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40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AEC"/>
                </a:solidFill>
              </a:rPr>
              <a:t>React Native, offline sync, UX design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188720"/>
            <a:ext cx="3566160" cy="2286000"/>
          </a:xfrm>
          <a:prstGeom prst="rect">
            <a:avLst/>
          </a:prstGeom>
          <a:solidFill>
            <a:srgbClr val="063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Arjun Mehta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828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B429"/>
                </a:solidFill>
              </a:rPr>
              <a:t>Backend Dev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40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AEC"/>
                </a:solidFill>
              </a:rPr>
              <a:t>FastAPI, PostgreSQL, AWS, DevOps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3C40"/>
                </a:solidFill>
              </a:rPr>
              <a:t>Our 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063C40"/>
                </a:solidFill>
              </a:rPr>
              <a:t>▸  Mentorship from experienced agritech founders &amp; agronomists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63C40"/>
                </a:solidFill>
              </a:rPr>
              <a:t>▸  Seed funding of ₹25L to scale pilot to 5 additional districts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63C40"/>
                </a:solidFill>
              </a:rPr>
              <a:t>▸  Partnership with state agricultural universities for disease data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63C40"/>
                </a:solidFill>
              </a:rPr>
              <a:t>▸  Distribution channel via Krishi Vigyan Kendras (KVK) 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